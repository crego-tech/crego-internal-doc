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739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7393A"/>
                </a:solidFill>
                <a:latin typeface="Arial"/>
              </a:rPr>
              <a:t>India digital lending platform market, US$M (Grand View, 31.5% CAGR)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digital lending platform market (US$M)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39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487</c:v>
                </c:pt>
                <c:pt idx="1">
                  <c:v>640</c:v>
                </c:pt>
                <c:pt idx="2">
                  <c:v>842</c:v>
                </c:pt>
                <c:pt idx="3">
                  <c:v>1107</c:v>
                </c:pt>
                <c:pt idx="4">
                  <c:v>1456</c:v>
                </c:pt>
                <c:pt idx="5">
                  <c:v>1908</c:v>
                </c:pt>
                <c:pt idx="6">
                  <c:v>2454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739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7393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7393A"/>
                </a:solidFill>
                <a:latin typeface="Arial"/>
              </a:rPr>
              <a:t>Asset mix, Dec 2023 (CRISIL, 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Co-lending asset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bubble3D val="0"/>
            <c:spPr>
              <a:solidFill>
                <a:srgbClr val="76C7B7"/>
              </a:solidFill>
              <a:effectLst/>
            </c:spPr>
          </c:dPt>
          <c:dPt>
            <c:idx val="3"/>
            <c:bubble3D val="0"/>
            <c:spPr>
              <a:solidFill>
                <a:srgbClr val="E76F51"/>
              </a:solidFill>
              <a:effectLst/>
            </c:spPr>
          </c:dPt>
          <c:dPt>
            <c:idx val="4"/>
            <c:bubble3D val="0"/>
            <c:spPr>
              <a:solidFill>
                <a:srgbClr val="B9D8D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Personal loans</c:v>
                </c:pt>
                <c:pt idx="1">
                  <c:v>Housing</c:v>
                </c:pt>
                <c:pt idx="2">
                  <c:v>Unsecured MSME</c:v>
                </c:pt>
                <c:pt idx="3">
                  <c:v>Gold</c:v>
                </c:pt>
                <c:pt idx="4">
                  <c:v>Secured MSME/LAP + vehicle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33</c:v>
                </c:pt>
                <c:pt idx="1">
                  <c:v>20</c:v>
                </c:pt>
                <c:pt idx="2">
                  <c:v>13</c:v>
                </c:pt>
                <c:pt idx="3">
                  <c:v>13</c:v>
                </c:pt>
                <c:pt idx="4">
                  <c:v>20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50">
              <a:solidFill>
                <a:srgbClr val="1739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739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7393A"/>
                </a:solidFill>
                <a:latin typeface="Arial"/>
              </a:rPr>
              <a:t>TReDS invoice financing, ₹ lakh crore (FY26 = RXIL projection)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TReDS financing (₹ L Cr)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39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 (proj.)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1.38</c:v>
                </c:pt>
                <c:pt idx="1">
                  <c:v>2.35</c:v>
                </c:pt>
                <c:pt idx="2">
                  <c:v>3.5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739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377440"/>
            <a:ext cx="5943600" cy="5943600"/>
          </a:xfrm>
          <a:prstGeom prst="ellipse">
            <a:avLst/>
          </a:prstGeom>
          <a:solidFill>
            <a:srgbClr val="1149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4206240" cy="4206240"/>
          </a:xfrm>
          <a:prstGeom prst="ellipse">
            <a:avLst/>
          </a:prstGeom>
          <a:solidFill>
            <a:srgbClr val="1149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  ·  MARKET INTELLIGENCE  ·  JULY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Management Software in India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landscape, incumbents and challengers — with a deep dive on co-lending and supply chain finance, and where Crego wins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1494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6451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 L Cr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51560" y="52303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co-lending AUM, Mar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44805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1494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46451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₹2.35 L Cr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52303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TReDS volume FY25, +70% YoY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44805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149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46451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75320" y="52303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India digital lending platforms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fragmented market being reshaped by regulation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DF5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910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market is small; the flow it controls is huge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19385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digital lending platform (software) market is ~$487M (2024) growing ~31.5% CAGR to ~$2.45B by 2030 — but it orchestrates ₹52 lakh crore of NBFC credit and a $530B MSME credit gap.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88336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DF5F4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443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08701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980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has reset the rules of co-lending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554480" y="314553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Co-Lending Arrangements Directions 2025 (effective Jan 1, 2026) extend co-lending to all loans and all RE pairs — forcing escrow routing, blended rates, 15-day transfers and synchronized NPA marking. Compliance is now a technology problem.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95344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DF5F4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15137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294022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050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player owns the full lending + co-lending + SCF stack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54480" y="435254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LMS vendors (Nucleus, Pennant) own servicing; Yubi and Knight own co-lending pipes; Veefin, CredAble and Vayana own SCF. The configurable, API-first middle — where Crego plays — is contested but unconsolidated.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102352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FDF1EC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35838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550103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212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12–24 months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54480" y="55595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CLA-2025 re-platforming, TReDS mandate expansion and the RBI's draft model-risk rules create a buying cycle across ~100 large NBFCs, of which only ~1/3 have active co-lending books today.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&amp;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 software rides a much larger credit wave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126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00200"/>
            <a:ext cx="4663440" cy="914400"/>
          </a:xfrm>
          <a:prstGeom prst="roundRect">
            <a:avLst>
              <a:gd name="adj" fmla="val 7000"/>
            </a:avLst>
          </a:prstGeom>
          <a:solidFill>
            <a:srgbClr val="EDF5F4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1709928"/>
            <a:ext cx="1417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₹52 L Cr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41080" y="16916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credit outstanding (Dec 2024); CRISIL sees AUM crossing ₹50 lakh crore by FY27 at 18–19% growth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49440" y="2642616"/>
            <a:ext cx="4663440" cy="914400"/>
          </a:xfrm>
          <a:prstGeom prst="roundRect">
            <a:avLst>
              <a:gd name="adj" fmla="val 7000"/>
            </a:avLst>
          </a:prstGeom>
          <a:solidFill>
            <a:srgbClr val="EDF5F4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2752344"/>
            <a:ext cx="1417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$530B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41080" y="273405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credit gap — only $289B of $819B addressable debt demand is met formally (Avendus)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49440" y="3685032"/>
            <a:ext cx="4663440" cy="914400"/>
          </a:xfrm>
          <a:prstGeom prst="roundRect">
            <a:avLst>
              <a:gd name="adj" fmla="val 7000"/>
            </a:avLst>
          </a:prstGeom>
          <a:solidFill>
            <a:srgbClr val="EDF5F4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3794760"/>
            <a:ext cx="1417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~14%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641080" y="377647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for India loan origination software 2025–30; global LMS market $9.2B (2024) → $22.6B (2030)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49440" y="4727448"/>
            <a:ext cx="4663440" cy="914400"/>
          </a:xfrm>
          <a:prstGeom prst="roundRect">
            <a:avLst>
              <a:gd name="adj" fmla="val 7000"/>
            </a:avLst>
          </a:prstGeom>
          <a:solidFill>
            <a:srgbClr val="EDF5F4"/>
          </a:solidFill>
          <a:ln/>
        </p:spPr>
      </p:sp>
      <p:sp>
        <p:nvSpPr>
          <p:cNvPr id="15" name="Text 12"/>
          <p:cNvSpPr/>
          <p:nvPr/>
        </p:nvSpPr>
        <p:spPr>
          <a:xfrm>
            <a:off x="7178040" y="4837176"/>
            <a:ext cx="1417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₹1.06 L Cr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641080" y="481888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loans sanctioned by fintech NBFCs in FY25 (10.9 crore loans) — volume leadership, thin value share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 credible India-specific LMS-only market size is published; digital lending platform market is the nearest proxy. Sources: Grand View Research, CRISIL, Avendus, FACE, Research &amp; Markets.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CATALYSTS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RBI moves that convert compliance into software demand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49240" cy="2304288"/>
          </a:xfrm>
          <a:prstGeom prst="roundRect">
            <a:avLst>
              <a:gd name="adj" fmla="val 3175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1806123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45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Co-Lending Arrangements Directions, 2025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95681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Jan 1,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loan types, any RE pair (bank–NBFC–HFC). 10% minimum retention each, 15-day back-to-back transfer, mandatory escrow, blended rates, DLG ≤5%, borrower-level NPA sync, quarterly disclosures.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1821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co-lender needs orchestration, recon and reporting software — spreadsheets no longer survive audit.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1481328"/>
            <a:ext cx="5349240" cy="2304288"/>
          </a:xfrm>
          <a:prstGeom prst="roundRect">
            <a:avLst>
              <a:gd name="adj" fmla="val 3175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4808" y="168249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435" y="1806123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645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Lending Directions, 2025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086600" y="195681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May 8, 2025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92240" y="22860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DL rules; DLA reporting to CIMS; from Nov 1, 2025 multi-lender LSPs must show unbiased rankings, documented matching logic, no dark patterns.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492240" y="31821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LSPs and lenders need auditable decision and disclosure trails baked into their stack.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3968496"/>
            <a:ext cx="5349240" cy="2304288"/>
          </a:xfrm>
          <a:prstGeom prst="roundRect">
            <a:avLst>
              <a:gd name="adj" fmla="val 3175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9808" y="416966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5" y="4293291"/>
            <a:ext cx="228234" cy="22823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41330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Model Risk Management (credit)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371600" y="444398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Aug 2024; final pending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77240" y="47731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Board-approved model risk policy, model inventory, independent validation — including vendor models. Explainability, bias testing and override ('kill switch') expectations.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77240" y="5669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engines with explainable, versioned, human-overridable logic become a compliance asset.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263640" y="3968496"/>
            <a:ext cx="5349240" cy="2304288"/>
          </a:xfrm>
          <a:prstGeom prst="roundRect">
            <a:avLst>
              <a:gd name="adj" fmla="val 3175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64808" y="416966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435" y="4293291"/>
            <a:ext cx="228234" cy="22823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86600" y="41330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Rules, 2025 + TReDS mandate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086600" y="444398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to May 2027 / Mar 2025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492240" y="47731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consent, breach and retention duties (BFSI likely 'significant fiduciaries'; penalties to ₹250 Cr). TReDS onboarding now mandatory for ₹250 Cr+ turnover companies.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492240" y="5669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and SCF connectivity move from optional to mandatory for lenders and anchors.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camps compete for the lending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07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5" y="183392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408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enterprise LMS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926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servicing core at banks &amp; large NBFCs. License + AMC, long implementations.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" y="3794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(FinnOne Neo) · Pennant · Intellect Design · TCS BaNCS · Craft Silicon · OmniFin (Aurionpro)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62249" y="1481328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3417" y="17007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553" y="1833921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3417" y="23408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SaaS lending stacks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63417" y="2926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LOS/LMS/BRE, usage pricing, fast launches for NBFCs &amp; fintechs.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563417" y="3794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M2P (Finflux) · Lentra · Perfios · FinBox · Jocata · OneFin · Cloudbankin · Roopya · Crego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75858" y="1481328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77026" y="17007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162" y="1833921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7026" y="23408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Co-lending infrastructure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77026" y="2926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&amp; middleware wiring banks to NBFC originators.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377026" y="3794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Yubi Co.lend · Knight Fintech · M2P co-lending engine · Finverv · OneFin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989466" y="1481328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90634" y="17007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3771" y="1833921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90634" y="23408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 &amp; receivables platforms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190634" y="2926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Anchor-led dealer/vendor finance, invoice discounting, TReDS exchanges.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190634" y="3794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Veefin · CredAble · Vayana · Mintifi · KredX (DTX) · Cashinvoice · RXIL · M1xchange · Invoicemart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FDF1EC"/>
          </a:solidFill>
          <a:ln/>
        </p:spPr>
      </p:sp>
      <p:sp>
        <p:nvSpPr>
          <p:cNvPr id="29" name="Text 23"/>
          <p:cNvSpPr/>
          <p:nvPr/>
        </p:nvSpPr>
        <p:spPr>
          <a:xfrm>
            <a:off x="777240" y="5870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Crego's angle: </a:t>
            </a:r>
            <a:pPr indent="0" marL="0">
              <a:buNone/>
            </a:pPr>
            <a:r>
              <a:rPr lang="en-US" sz="115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configurable stack spanning camps 2, 3 and 4 — LOS + LMS + rules engine + co-lending + SCF — instead of four separate vendors.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LMS: entrenched, profitable, slow to reconfigure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383280"/>
                <a:gridCol w="2743200"/>
                <a:gridCol w="24688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/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&amp; 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Marquee clients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Watch-outs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Nucleus Software — FinnOne Neo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₹832 Cr revenue FY25 (listed). Full LOS+LMS+collections; 200+ FIs, 50 countries.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Bank, ICICI, Tata Capital, Muthoot Fincorp, Saarathi (2025)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reference incumbent; still winning new NBFC logos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Pennant — pennApps Lending Factory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~₹100–500 Cr revenue band. Cloud LMS; migrated Bajaj Finance core (50M+ accounts).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Bajaj Finance (26% stakeholder), LIC HFL, Credit Saison India (Feb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Bajaj ownership is both anchor and conflict; fastest-rising incumbent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Intellect Design — iKredit360 / eMACH.ai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₹3,038 Cr group revenue (listed). Composable credit platform, big-bank tier.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banks; India strength is core banking &amp; cards more than NBFC LMS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AI-first push (2026); thin mid-market NBFC presence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TCS BaNCS — lending &amp; securitization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Top-3 core banking platform; lending modules + HFC securitization cloud.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Aadhar Housing Finance; large PSU/private banks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Competes at large-bank deals, not agile NBFC stacks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Craft Silicon / OmniFin (Aurionpro)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MFI-niche BR.NET (200+ FIs, 30 countries) / OmniFin LMS at 45+ Indian FIs.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IIFL Samasta, Ujjivan (claimed); OmniFin acquired for $9.8M (2023)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Aurionpro puts a listed parent behind a legacy install 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company filings and press (Nucleus FY25 results; Pennant/Bajaj Finance disclosures; Screener; TCS, Aurionpro, Craft Silicon announcements). Tracxn estimates flagged where used.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SaaS stacks: well-funded, mostly loss-making, consolidating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931920"/>
                <a:gridCol w="2743200"/>
                <a:gridCol w="210312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&amp;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for Crego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M2P Fintech (Finflux LMS)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 + payments + full lending suite; co-lending engine aligned to CLA-2025. 300+ lenders claimed.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 Cr+ rev FY25; losses widened &gt;90%. $783M valuation (Series D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Broadest rival; wins on breadth, not configurability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Perfios (+ Karza, Clari5)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Underwriting data &amp; decisioning infra, not core LMS; 5 acquisitions since 2022.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₹669 Cr rev, ₹104 Cr PAT FY25 — the only large profitable player; unicorn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more than competitor; owns the data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Yubi (ex-CredAvenue)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marketplace + co-lending + SCF + collections; ₹1.4 L Cr group debt facilitated.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₹660 Cr rev FY25, ₹416 Cr net loss; raised ₹411 Cr Feb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take-rate model; deep lender network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Bank-grade LOS/LMS cloud; HDFC Bank, Federal, SCB; $50B+ loans processed claimed.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~₹183 Cr rev FY24; 2024 layoffs, now profitable per Tracxn; IPO ambition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Bank-first; retrenched from blitzscaling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FinBox / Jocata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FinBox: BRE + embedded credit rails (HDFC, Kotak, Tata Cap). Jocata GRID: low-code lending for 50+ FIs (BillDesk-owned).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FinBox $40M Series B (Sep 2025); Jocata ₹100–500 Cr band, EBITDA spike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analogues to Crego's BRE-led pitch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tail: OneFin, Cloudbankin, Roopya, Finverv, LendFoundry, Novel Patterns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Seed/bootstrapped LOS-LMS-co-lending suites for smaller NBFCs &amp; LSPs; compete on speed-to-launch and price.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Sub-$5M revenue each; OneFin ~$2B loans processed (YC-backed)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Crego's direct pricing peers — differentiation must be product depth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Entrackr/Inc42 FY25 financials; company announcements; Tracxn. Vendor-claimed metrics (loans processed, client counts) are unaudited.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CO-LENDING — THE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 lakh crore AUM meets a hard new rulebook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023360" cy="822960"/>
          </a:xfrm>
          <a:prstGeom prst="roundRect">
            <a:avLst>
              <a:gd name="adj" fmla="val 7778"/>
            </a:avLst>
          </a:prstGeom>
          <a:solidFill>
            <a:srgbClr val="EDF5F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54480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 L Cr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121408" y="1554480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co-lending AUM, Mar 2025 (CRISIL) — ~₹1 L Cr a year earlier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4023360" cy="822960"/>
          </a:xfrm>
          <a:prstGeom prst="roundRect">
            <a:avLst>
              <a:gd name="adj" fmla="val 7778"/>
            </a:avLst>
          </a:prstGeom>
          <a:solidFill>
            <a:srgbClr val="EDF5F4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487168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35–40%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121408" y="248716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annual growth, medium term (CRISIL, pre-2025 rules)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4023360" cy="822960"/>
          </a:xfrm>
          <a:prstGeom prst="roundRect">
            <a:avLst>
              <a:gd name="adj" fmla="val 7778"/>
            </a:avLst>
          </a:prstGeom>
          <a:solidFill>
            <a:srgbClr val="EDF5F4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419856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~1/3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21408" y="3419856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top ~100 NBFCs have active co-lending books — big headroom</a:t>
            </a:r>
            <a:endParaRPr lang="en-US" sz="9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7200" y="4343400"/>
          <a:ext cx="4297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937760" y="1481328"/>
            <a:ext cx="6675120" cy="4892040"/>
          </a:xfrm>
          <a:prstGeom prst="roundRect">
            <a:avLst>
              <a:gd name="adj" fmla="val 1682"/>
            </a:avLst>
          </a:prstGeom>
          <a:solidFill>
            <a:srgbClr val="0C3536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CLA Directions 2025 — what changes on Jan 1, 2026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12080" y="21214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0" y="21214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priority-sector bank–NBFC pairs only → all loans, any two REs (banks, NBFCs, HFCs)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212080" y="271576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0" y="27157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 holds ≥10% of every loan (NBFC minimum was 20% under CLM-2)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212080" y="331012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00800" y="3310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must book its share back-to-back within 15 days of disbursement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212080" y="390448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0" y="39044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borrower &amp; inter-RE flows through escrow with pre-agreed appropriation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12080" y="449884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0" y="44988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interest rate weighted by funding share; all charges in APR &amp; KFS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212080" y="50932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00800" y="50932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DLG capped at 5%; no credit enhancement hidden in fees; borrower-level NPA sync across both REs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212080" y="568756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00800" y="56875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lists on website + quarterly disclosures of volumes, rates, fees, DLG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CRISIL expects near-term volume moderation while partners re-platform — ICRA: "if tech integration happens in time, volumes should recover."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CO-LENDING — WHO POWERS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leaders, one open middle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1806123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68249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Yubi Co.lend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53312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leader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2340864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₹22,600 Cr+ partnership-lending disbursals FY24-25; 300+ live arrangements; claims ~80% of banks partnered. Take-rate model (~46 bps per disbursal, reported).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1481328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4568" y="168249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195" y="1806123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48072" y="168249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Fintech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148072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Bank-side infra leader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0" y="2340864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$23.6M from Accel (Jan 2026); 85+ FIs incl. BoB, BoI, UCO; $5B+ active AUM on platform; claims ~70% share of digital co-lending infra. Middleware over core systems.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1481328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9328" y="168249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955" y="1806123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42832" y="168249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modules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942832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M2P · Lentra · OneFin · Finverv · Roopya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366760" y="2340864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Co-lending as a module of a broader LOS/LMS. M2P ships a CLA-2025 engine (triple schedules, escrow sweeps, KFS/APR automation). Enterprise SaaS + implementation pricing.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3159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grind every platform must now win on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4736592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FDF1EC"/>
          </a:solidFill>
          <a:ln/>
        </p:spPr>
      </p:sp>
      <p:sp>
        <p:nvSpPr>
          <p:cNvPr id="24" name="Text 19"/>
          <p:cNvSpPr/>
          <p:nvPr/>
        </p:nvSpPr>
        <p:spPr>
          <a:xfrm>
            <a:off x="731520" y="479145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accounting — one asset, two ledgers, different data models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343400" y="4736592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FDF1EC"/>
          </a:solidFill>
          <a:ln/>
        </p:spPr>
      </p:sp>
      <p:sp>
        <p:nvSpPr>
          <p:cNvPr id="26" name="Text 21"/>
          <p:cNvSpPr/>
          <p:nvPr/>
        </p:nvSpPr>
        <p:spPr>
          <a:xfrm>
            <a:off x="4526280" y="479145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splitting &amp; escrow sweeps with pre-agreed appropriation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8138160" y="4736592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FDF1EC"/>
          </a:solidFill>
          <a:ln/>
        </p:spPr>
      </p:sp>
      <p:sp>
        <p:nvSpPr>
          <p:cNvPr id="28" name="Text 23"/>
          <p:cNvSpPr/>
          <p:nvPr/>
        </p:nvSpPr>
        <p:spPr>
          <a:xfrm>
            <a:off x="8321040" y="479145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Blended-rate recomputation on every repo/MCLR reset (3 schedules)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48640" y="5486400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FDF1EC"/>
          </a:solidFill>
          <a:ln/>
        </p:spPr>
      </p:sp>
      <p:sp>
        <p:nvSpPr>
          <p:cNvPr id="30" name="Text 25"/>
          <p:cNvSpPr/>
          <p:nvPr/>
        </p:nvSpPr>
        <p:spPr>
          <a:xfrm>
            <a:off x="731520" y="554126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15-day transfer tracking or the loan is stuck with the originator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343400" y="5486400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FDF1EC"/>
          </a:solidFill>
          <a:ln/>
        </p:spPr>
      </p:sp>
      <p:sp>
        <p:nvSpPr>
          <p:cNvPr id="32" name="Text 27"/>
          <p:cNvSpPr/>
          <p:nvPr/>
        </p:nvSpPr>
        <p:spPr>
          <a:xfrm>
            <a:off x="4526280" y="554126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Borrower-level NPA mirroring across both REs, plus dual CIC reporting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8138160" y="5486400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FDF1EC"/>
          </a:solidFill>
          <a:ln/>
        </p:spPr>
      </p:sp>
      <p:sp>
        <p:nvSpPr>
          <p:cNvPr id="34" name="Text 29"/>
          <p:cNvSpPr/>
          <p:nvPr/>
        </p:nvSpPr>
        <p:spPr>
          <a:xfrm>
            <a:off x="8321040" y="554126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disclosure packs, DLG accounting, KFS/APR generation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"Co-lending 2.0" gap: most stacks were built for post-disbursal assignment under CLM-2 — orchestration-first, real-time partner sync is still emerging (M2P's own framing).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FINANCE — THE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TReDS is compounding at 70%; the gap is still enormous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45920"/>
            <a:ext cx="5669280" cy="896112"/>
          </a:xfrm>
          <a:prstGeom prst="roundRect">
            <a:avLst>
              <a:gd name="adj" fmla="val 7143"/>
            </a:avLst>
          </a:prstGeom>
          <a:solidFill>
            <a:srgbClr val="EDF5F4"/>
          </a:solidFill>
          <a:ln/>
        </p:spPr>
      </p:sp>
      <p:sp>
        <p:nvSpPr>
          <p:cNvPr id="6" name="Text 3"/>
          <p:cNvSpPr/>
          <p:nvPr/>
        </p:nvSpPr>
        <p:spPr>
          <a:xfrm>
            <a:off x="6172200" y="17373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exchanges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18120" y="1719072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RXIL (₹80.5k Cr FY25), M1xchange (₹1 L Cr in 10 months of FY26), Invoicemart, C2treds, KredX DTX (licensed Jan 2025)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43600" y="2670048"/>
            <a:ext cx="5669280" cy="896112"/>
          </a:xfrm>
          <a:prstGeom prst="roundRect">
            <a:avLst>
              <a:gd name="adj" fmla="val 7143"/>
            </a:avLst>
          </a:prstGeom>
          <a:solidFill>
            <a:srgbClr val="EDF5F4"/>
          </a:solidFill>
          <a:ln/>
        </p:spPr>
      </p:sp>
      <p:sp>
        <p:nvSpPr>
          <p:cNvPr id="9" name="Text 6"/>
          <p:cNvSpPr/>
          <p:nvPr/>
        </p:nvSpPr>
        <p:spPr>
          <a:xfrm>
            <a:off x="6172200" y="276148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₹250 Cr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18120" y="2743200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threshold above which TReDS onboarding became mandatory (Mar 2025 deadline) — drove the ~70% volume surge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0" y="3694176"/>
            <a:ext cx="5669280" cy="896112"/>
          </a:xfrm>
          <a:prstGeom prst="roundRect">
            <a:avLst>
              <a:gd name="adj" fmla="val 7143"/>
            </a:avLst>
          </a:prstGeom>
          <a:solidFill>
            <a:srgbClr val="EDF5F4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378561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₹25–30 L Cr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18120" y="3767328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MSME credit gap — TReDS + SCF platforms still address a sliver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4718304"/>
            <a:ext cx="5669280" cy="896112"/>
          </a:xfrm>
          <a:prstGeom prst="roundRect">
            <a:avLst>
              <a:gd name="adj" fmla="val 7143"/>
            </a:avLst>
          </a:prstGeom>
          <a:solidFill>
            <a:srgbClr val="EDF5F4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4809744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~67–71%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818120" y="4791456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TReDS financing now reaches Tier-2/3 city MSMEs (M1xchange data)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OCEN/GeM Sahay remain tiny (~₹1,600 Cr disbursed in 2025) — public-rail SCF is promising but not yet a market. Sources: RXIL, M1xchange, MSME Ministry notification S.O. 4845(E).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FINANCE — WHO POWERS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business models, one crowded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0784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377" y="183392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6276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software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81328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Veefin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40480" y="1609344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 SCF + digital lending stack to banks; no lending book. FY26 consolidated revenue ₹345 Cr (acquisition-heavy; standalone ₹71 Cr). Building PSBXchange for PSU banks — SBI, BoB, Central Bank, IOB, UCO signed.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35440" y="1609344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bank-consortium channel; hardest incumbent to displace in PSU SCF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3328416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77" y="3461553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81328" y="325526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platform + NBFC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81328" y="3822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CredAble · Vayana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840480" y="3236976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CredAble: &gt;$11B working capital enabled/yr, 100+ FIs, captive NBFC (~₹2,000 Cr annualized). Vayana: $33–40B cumulative, GST-data moat, NBFC licence Mar 2025; deep-tier SCF products.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9235440" y="3236976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 both software fees and NIM; potential conflict when competing for the same lenders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8640" y="4736592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4956048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77" y="5089185"/>
            <a:ext cx="245791" cy="24579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81328" y="488289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Balance-sheet &amp; exchanges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481328" y="54498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Mintifi · KredX · Cashinvoice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840480" y="4864608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Mintifi: $180M Series E (Dec 2024), ~$850M valuation, ₹319 Cr rev + ₹98 Cr PAT FY24, anchor-led dealer finance. KredX pivoted into TReDS (DTX). Cashinvoice: HDFC-backed marketplace, ₹15,000 Cr+ facilitated.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9235440" y="4864608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lenders/marketplaces, not software sellers — potential Crego customers, not rivals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scale claims are company-sourced and unaudited. Veefin's FY26 consolidated jump (+339%) is acquisition-driven; treat with caution.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3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CREGO PLAYS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configurable stack across the three contested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1494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09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084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institutions &amp; fintechs live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62249" y="1481328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1494A"/>
          </a:solidFill>
          <a:ln/>
        </p:spPr>
      </p:sp>
      <p:sp>
        <p:nvSpPr>
          <p:cNvPr id="8" name="Text 6"/>
          <p:cNvSpPr/>
          <p:nvPr/>
        </p:nvSpPr>
        <p:spPr>
          <a:xfrm>
            <a:off x="3563417" y="1609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₹5,500 Cr+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3417" y="2084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disbursed via Crego journeys &amp; LMS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5858" y="1481328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1494A"/>
          </a:solidFill>
          <a:ln/>
        </p:spPr>
      </p:sp>
      <p:sp>
        <p:nvSpPr>
          <p:cNvPr id="11" name="Text 9"/>
          <p:cNvSpPr/>
          <p:nvPr/>
        </p:nvSpPr>
        <p:spPr>
          <a:xfrm>
            <a:off x="6377026" y="1609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27001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7026" y="2084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certified; SOC 2 Type II in progress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89466" y="1481328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1494A"/>
          </a:solidFill>
          <a:ln/>
        </p:spPr>
      </p:sp>
      <p:sp>
        <p:nvSpPr>
          <p:cNvPr id="14" name="Text 12"/>
          <p:cNvSpPr/>
          <p:nvPr/>
        </p:nvSpPr>
        <p:spPr>
          <a:xfrm>
            <a:off x="9190634" y="1609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· LMS · BRE · co-lending · SCF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90634" y="2084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API-first platform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1494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260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legacy LMS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31920" y="2926080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Weeks-not-quarters policy changes via flow engine; no ₹ multi-crore implementation; but lacks their 200-install references and bank-grade audit history.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67328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1494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404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modern suites (M2P, Lentra)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31920" y="3840480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configurability and a founder-level focus on lending (not cards/payments); rivals out-fund and out-brand Crego — win on speed, TCO and service.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81728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1494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7548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co-lending specialists (Yubi, Knight)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31920" y="4754880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bring the lender network; Crego brings the operating system — CLA-2025 escrow, blended-rate and NPA-sync mechanics native to the LMS rather than bolted 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596128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1494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692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SCF platforms (Veefin, CredAble)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931920" y="5669280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 sells software to lenders (incl. clients like Vayana Finserv) rather than running a marketplace — no channel conflict with the NBFCs it serves.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incl. Indifi, Vayana Finserv, Tyger Capital, Blacksoil, Aerem, CredFlow — concentrated in MSME, supply-chain and solar lending.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&amp; THREATS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next 24 months are won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EDF5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CLA-2025 re-platforming wave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co-lending RE must be compliant by Jan 1, 2026 — smaller NBFCs (the 2/3 without active books, plus stragglers who asked RBI for extensions) are underserved by Yubi/Knight's enterprise focus.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EDF5F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Orchestration-first "co-lending 2.0"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32841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partner-LMS sync, escrow appropriation and disclosure automation remain half-solved even by leaders — a product gap, not a distribution gap.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4059936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EDF5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51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as compliance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444398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RBI's draft model-risk rules make versioned, explainable, human-overridable credit logic a regulatory asset — squarely Crego's flow-engine thesis.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175504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EDF5F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2669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 software for non-bank lenders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555955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Veefin owns PSU-bank consortiums; NBFCs and new-age lenders running dealer/vendor programs still stitch tools together.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1828800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DF1EC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9202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Roll-ups buying breadth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0" y="221284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M2P (Finflux, Goals101) and Perfios (Karza, Clari5, CreditNirvana) are assembling full stacks with 100x Crego's capital.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55080" y="2944368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DF1EC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035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Knight's bank-side lock-in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0" y="332841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PSU-bank co-lending rails harden into standards; whoever owns the bank side dictates NBFC integration specs.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4059936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DF1E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1513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anchor deals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0" y="44439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Pennant × Bajaj Finance shows incumbents converting one flagship client into equity-backed distribution.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55080" y="5175504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DF1EC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26694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compression at the long tail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0" y="55595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OneFin, Cloudbankin, Roopya fight for the same mid-market NBFCs on price; undifferentiated LOS/LMS is a race to the bottom.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3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— FIVE MOVES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plays for Crego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1494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00784"/>
            <a:ext cx="475488" cy="47548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159105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CLA-2025 compliance pack and market it hard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81328" y="192024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appropriation, blended-rate engine, 15-day transfer tracking, NPA sync, disclosure packs — as a named product, priced for mid-market NBFCs the leaders ignore.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0545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1494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24912"/>
            <a:ext cx="475488" cy="47548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81328" y="26151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the flow engine as regulatory infrastructure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81328" y="294436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versioned, human-overridable credit policy maps directly to RBI's draft model-risk rules — sell to risk &amp; compliance heads, not just CTOs.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1494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49040"/>
            <a:ext cx="475488" cy="47548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363931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the networks, compete with the suites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81328" y="3968496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Yubi/Knight/TReDS as rails and with Perfios as data — differentiate against M2P/Lentra on configurability, TCO and time-to-launch.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55371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149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773168"/>
            <a:ext cx="475488" cy="47548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73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81328" y="466344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SCF for NBFC lenders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81328" y="4992624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Dealer/vendor finance programs for non-bank lenders are unowned; existing clients (Vayana Finserv, Indifi) prove the wedge — productize deep-tier journeys.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1494A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797296"/>
            <a:ext cx="475488" cy="47548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797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81328" y="56875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proof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81328" y="601675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₹5,500 Cr+ disbursed and 15+ institutions is real traction — turn it into named case studies, uptime SLAs and audited claims before better-funded rivals define the narrative.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caveats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4754880"/>
          </a:xfrm>
          <a:prstGeom prst="roundRect">
            <a:avLst>
              <a:gd name="adj" fmla="val 2308"/>
            </a:avLst>
          </a:prstGeom>
          <a:solidFill>
            <a:srgbClr val="EDF5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regulation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Co-Lending Arrangements Directions 2025 (Aug 6, 2025); Digital Lending Directions 2025; draft model-risk circular (Aug 2024)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CRISIL Ratings co-lending PRs (Apr 2024; Aug 2025); ICRA commentary via Business Standard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Research — India digital lending platform market; Research &amp; Markets — global LMS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FACE/IBEF FY25 fintech lending data; Avendus MSME credit gap; MSME Ministry S.O. 4845(E)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43400" y="1481328"/>
            <a:ext cx="3566160" cy="4754880"/>
          </a:xfrm>
          <a:prstGeom prst="roundRect">
            <a:avLst>
              <a:gd name="adj" fmla="val 2308"/>
            </a:avLst>
          </a:prstGeom>
          <a:solidFill>
            <a:srgbClr val="EDF5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210312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financials: Entrackr/Inc42 (M2P, Yubi, Perfios); Nucleus FY25 results; Screener (Intellect)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Funding: Knight Fintech (SiliconANGLE/Inc42, Jan 2026), FinBox (Business Standard, Sep 2025), Mintifi (Business Standard, Dec 2024), Veefin filings/press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TReDS: RXIL, M1xchange, Invoicemart (Axis annual report), KredX DTX approvals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 figures: crego.ai public claims (vendor-stated)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38160" y="1481328"/>
            <a:ext cx="3566160" cy="4754880"/>
          </a:xfrm>
          <a:prstGeom prst="roundRect">
            <a:avLst>
              <a:gd name="adj" fmla="val 2308"/>
            </a:avLst>
          </a:prstGeom>
          <a:solidFill>
            <a:srgbClr val="FDF1EC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66760" y="210312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India-specific LMS-only market size exists; digital-lending-platform market used as proxy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hard co-lending AUM print is ₹1.1 L Cr (Mar 2025, CRISIL); FY26 figures are extrapolations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Yubi ~46 bps take-rate, Knight's 70% share &amp; valuation are single-source claims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 scale metrics (loans processed, clients) are vendor-claimed and unaudited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July 2026 by Crego market intelligence. Internal use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Loan Management Software Market — Competitive Landscape</dc:title>
  <dc:subject>PptxGenJS Presentation</dc:subject>
  <dc:creator>Crego</dc:creator>
  <cp:lastModifiedBy>Crego</cp:lastModifiedBy>
  <cp:revision>1</cp:revision>
  <dcterms:created xsi:type="dcterms:W3CDTF">2026-07-04T19:08:23Z</dcterms:created>
  <dcterms:modified xsi:type="dcterms:W3CDTF">2026-07-04T19:08:23Z</dcterms:modified>
</cp:coreProperties>
</file>