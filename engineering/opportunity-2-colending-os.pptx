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7393A"/>
                </a:solidFill>
                <a:latin typeface="Arial"/>
              </a:defRPr>
            </a:pPr>
            <a:r>
              <a:rPr sz="1050" b="0" i="0" u="none" strike="noStrike">
                <a:solidFill>
                  <a:srgbClr val="17393A"/>
                </a:solidFill>
                <a:latin typeface="Arial"/>
              </a:rPr>
              <a:t>Co-lending AUM, ₹ lakh crore (FY27/FY29 = CRISIL 35% guidance extrapolated)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Co-lending AUM (₹ L Cr)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39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FY24</c:v>
                  </c:pt>
                  <c:pt idx="1">
                    <c:v>FY25</c:v>
                  </c:pt>
                  <c:pt idx="2">
                    <c:v>FY27 @35%</c:v>
                  </c:pt>
                  <c:pt idx="3">
                    <c:v>FY29 @35%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1.1</c:v>
                </c:pt>
                <c:pt idx="2">
                  <c:v>2</c:v>
                </c:pt>
                <c:pt idx="3">
                  <c:v>3.65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1739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943600" cy="594360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1149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· PRODUCT OPPORTUNITY 2 OF 3 · JULY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789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Co-lending OS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neutral orchestration layer that connects the systems banks and NBFCs already run — nobody replaces their core; the OS synchronizes the loan across every party, end to end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₹1.1 L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AUM (Mar 2025), guided 35–40%/yr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1, 2026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 Directions live — forced re-platforming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448056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11494A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46268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~2/3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519379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large NBFCs have no co-lending book yet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Multi-party lending on single-party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72768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change their 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0195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run Finacle / BaNCS / FLEXCUBE; 9,500+ NBFCs run FinnOne, Pennant, homegrown LMSs. U GRO's CFO on record: India lacks tech players who can integrate banks and NBFCs. ICRA: integration effort is why true joint-disbursal (CLM-1) barely happened.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688336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0870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7977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industry runs on files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54480" y="310896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sync happens over SFTP and Excel; Union Bank's co-lending policy institutionalizes a human maker-checker cell per NBFC lead. M2P's own middleware still ships SFTP support in 2026. Onboarding a single partner takes ~45 days; integrations historically ~6 months.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95344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ED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513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294022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8678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breaks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431596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 becomes unsustainable at 5,000–10,000 active co-lent accounts: posting-timing splits, holiday mismatches, divergent partial-payment logic, conflicting bureau reporting (current at the bank, 30 DPD at the NBFC). Banks quietly shrink allocations to partners whose data runs late.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5102352"/>
            <a:ext cx="11064240" cy="1060704"/>
          </a:xfrm>
          <a:prstGeom prst="roundRect">
            <a:avLst>
              <a:gd name="adj" fmla="val 6034"/>
            </a:avLst>
          </a:prstGeom>
          <a:solidFill>
            <a:srgbClr val="FDF1EC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535838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55010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5193792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made it a compliance problem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5522976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 Directions: escrow-only money movement, blended rates, 15-day back-to-back transfer or the deal falls out of CLA treatment, borrower-level NPA mirroring, dual CIC reporting, quarterly public disclosures. Spreadsheets no longer survive audit.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operating system between the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2821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49" y="1842333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 — Finacle CBS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566160" y="1938528"/>
            <a:ext cx="685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48640" y="25146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883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49" y="2802453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6060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 — BaNCS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566160" y="2898648"/>
            <a:ext cx="685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548640" y="34747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3762573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5661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1 — FinnOne LMS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566160" y="3858768"/>
            <a:ext cx="685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548640" y="443484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6085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4722693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526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2 — homegrown LMS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566160" y="4818888"/>
            <a:ext cx="68580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4251960" y="155448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C353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434840" y="1755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CO-LENDING OS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434840" y="2176272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Adapters: API where possible, SFTP/file where not — meet every core where it is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loan state: one source of truth, both ledgers reconciled continuously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&amp; waterfall engine (trustee/escrow-bank APIs, e.g. Castler-style rails)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Blended-rate &amp; triple schedules; 15-day transfer clock with alerts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NPA mirroring + dual CIC reporting; DLG accounting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packs &amp; partner-portal for quarterly filings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452360" y="1938528"/>
            <a:ext cx="5486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8001000" y="155448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29" name="Shape 23"/>
          <p:cNvSpPr/>
          <p:nvPr/>
        </p:nvSpPr>
        <p:spPr>
          <a:xfrm>
            <a:off x="8165592" y="172821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709" y="1842333"/>
            <a:ext cx="210678" cy="21067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732520" y="1645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banks &amp; trustees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452360" y="2898648"/>
            <a:ext cx="5486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8001000" y="251460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34" name="Shape 27"/>
          <p:cNvSpPr/>
          <p:nvPr/>
        </p:nvSpPr>
        <p:spPr>
          <a:xfrm>
            <a:off x="8165592" y="268833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9709" y="2802453"/>
            <a:ext cx="210678" cy="21067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732520" y="2606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bureaus (dual CIC)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7452360" y="3858768"/>
            <a:ext cx="5486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38" name="Shape 30"/>
          <p:cNvSpPr/>
          <p:nvPr/>
        </p:nvSpPr>
        <p:spPr>
          <a:xfrm>
            <a:off x="8001000" y="347472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39" name="Shape 31"/>
          <p:cNvSpPr/>
          <p:nvPr/>
        </p:nvSpPr>
        <p:spPr>
          <a:xfrm>
            <a:off x="8165592" y="364845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709" y="3762573"/>
            <a:ext cx="210678" cy="21067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73252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servicing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7452360" y="4818888"/>
            <a:ext cx="54864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8001000" y="44348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DF5F4"/>
          </a:solidFill>
          <a:ln/>
        </p:spPr>
      </p:sp>
      <p:sp>
        <p:nvSpPr>
          <p:cNvPr id="44" name="Shape 35"/>
          <p:cNvSpPr/>
          <p:nvPr/>
        </p:nvSpPr>
        <p:spPr>
          <a:xfrm>
            <a:off x="8165592" y="460857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9709" y="4722693"/>
            <a:ext cx="210678" cy="21067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8732520" y="4526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reporting &amp; audit</a:t>
            </a:r>
            <a:endParaRPr lang="en-US" sz="1050" dirty="0"/>
          </a:p>
        </p:txBody>
      </p:sp>
      <p:sp>
        <p:nvSpPr>
          <p:cNvPr id="47" name="Shape 37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1EC"/>
          </a:solidFill>
          <a:ln/>
        </p:spPr>
      </p:sp>
      <p:sp>
        <p:nvSpPr>
          <p:cNvPr id="48" name="Text 38"/>
          <p:cNvSpPr/>
          <p:nvPr/>
        </p:nvSpPr>
        <p:spPr>
          <a:xfrm>
            <a:off x="822960" y="559612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stance that matters: </a:t>
            </a:r>
            <a:pPr indent="0" marL="0">
              <a:buNone/>
            </a:pPr>
            <a:r>
              <a:rPr lang="en-US" sz="1150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connect, don't replace — and stay neutral. Every rival claiming 'orchestration' (M2P, Knight, Yubi) monetizes by pulling lenders onto its own LMS or marketplace. A Swiss-neutral OS that never competes for the loan or the ledger is the unclaimed position.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forced re-platforming moment, still unresolved in mid-2026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1, 2026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0" y="1554480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 Directions took effect. Smaller NBFCs asked RBI for extensions (none found granted); bankers expected books to shrink during transition; CRISIL flagged tech integration as the gating factor for recovery.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2374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still being retrofitted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0" y="2523744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were actively selling CLA compliance retrofits in March 2026 (M2P, Finezza, OneFin 'urgent action plan') — evidence the market hasn't finished re-platforming.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41985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DF5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9300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expansion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0" y="3493008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opened co-lending to ALL loan types and ANY two REs — NBFC-NBFC and bank-bank pairs are now legal, multiplying possible partnerships beyond today's low-hundreds.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DF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6227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TAM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4462272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Securitisation hit ₹2.5 L Cr FY26 (ICRA: ₹2.6–2.7 L Cr FY27); direct assignment volumes spike whenever co-lending stalls — the same orchestration rails serve DA and securitisation ops.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535838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ED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3153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market visibility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5431536"/>
            <a:ext cx="7726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public partner disclosures from 2026 make the co-lending graph countable for the first time — a data asset and a prospecting list.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to validate: no post-Jan-2026 volume data published yet (CRISIL/ICRA silent as of Jul 2026) — first-quarter impact numbers will sharpen the case either way.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'OS' language is contested; the neutral seat is empty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846320"/>
                <a:gridCol w="429768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&amp;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they're not the neutral 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53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Knight Fintech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$23.6M Accel Series A (Jan 2026); 150+ partnerships, 85 lenders; ₹3,000–4,000 Cr monthly disbursals; ~₹31.5 Cr FY25 revenue; license + implementation + AUM-linked fees (~15 bps implied blended — our derivation)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Bank-side anchored (treasury + lending suites sold to banks; ex-Finacle CEO advising) — NBFCs integrate into Knight's world, not a neutral one. 70% share claim is self-reported.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Yubi Co.lend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Marketplace: 500+ lenders ever connected, ₹22,600 Cr partnership disbursals FY24-25; ~46 bps take-rate (single source); group lost ₹416 Cr on ₹660 Cr revenue FY25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Monetizes deal flow, not plumbing — it competes for origination economics and is conflicted as neutral infrastructure.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M2P (Finflux)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'Orchestration-first' CLA-2025 engine: triple schedules, escrow sweeps, KFS automation; API + SFTP partner sync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Admits the connect-don't-replace wedge in its own blog — but ties it to buying M2P's Core Lending Suite.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modules &amp; small players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OneFin, Finverv, Roopya, Corestrat Lendsphere, Craft Silicon co-lending module (API+FTP)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Co-lending as a feature of their own LMS; none positions as a cross-system OS. No co-lending-specific startup founded 2024–26 was found.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Escrow/trustee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39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Castler (escrow APIs, 12+ banks, 6 trustees); Catalyst/Axis Trustee (manual services)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Partners, not competitors — the OS composes them.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truly neutral, integration-only co-lending player was found across multiple searches — whitespace confirmed by absence (which is also a caution: maybe nobody's paid for neutrality yet).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pricing precedents support SaaS + bps hybrid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9377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645920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Knight's live model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80760" y="2029968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+ implementation + AUM-linked recurring — ~15 bps blended implied at ₹31.5 Cr revenue on claimed ₹20,000 Cr platform assets (our derivation, flag)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816352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9" name="Text 6"/>
          <p:cNvSpPr/>
          <p:nvPr/>
        </p:nvSpPr>
        <p:spPr>
          <a:xfrm>
            <a:off x="6080760" y="29077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precedents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080760" y="320040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ONDC ₹1.50/txn; UPI interchange capped bps; AA per-fetch ₹0.01–25; TReDS charges bps of invoice — thin per-event fees scale with mandated volume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986784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EDF5F4"/>
          </a:solidFill>
          <a:ln/>
        </p:spPr>
      </p:sp>
      <p:sp>
        <p:nvSpPr>
          <p:cNvPr id="12" name="Text 9"/>
          <p:cNvSpPr/>
          <p:nvPr/>
        </p:nvSpPr>
        <p:spPr>
          <a:xfrm>
            <a:off x="6080760" y="40782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math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80760" y="4370832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10–15 bps on orchestrated AUM: ₹10,000 Cr = ₹10–15 Cr ARR; ₹50,000 Cr = ₹50–75 Cr ARR — plus per-partner onboarding fees (the 45-day pain is itself billable)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5157216"/>
            <a:ext cx="5760720" cy="1042416"/>
          </a:xfrm>
          <a:prstGeom prst="roundRect">
            <a:avLst>
              <a:gd name="adj" fmla="val 6140"/>
            </a:avLst>
          </a:prstGeom>
          <a:solidFill>
            <a:srgbClr val="FDF1EC"/>
          </a:solidFill>
          <a:ln/>
        </p:spPr>
      </p:sp>
      <p:sp>
        <p:nvSpPr>
          <p:cNvPr id="15" name="Text 12"/>
          <p:cNvSpPr/>
          <p:nvPr/>
        </p:nvSpPr>
        <p:spPr>
          <a:xfrm>
            <a:off x="6080760" y="52486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080760" y="5541264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banks actually pay for co-lending tech is not public — no tenders or disclosures found; needs primary discovery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projections are CRISIL's pre-2026-rules guidance extrapolated — near-term dip during re-platforming is the analyst consensus; medium-term direction is intact.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mechanics, missing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win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ships co-lending mechanics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Crego's LMS handles co-lending today for live clients — split accounting, schedules, escrow flows are known territory, not R&amp;D.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Neutrality is credible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32841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has no marketplace, no lending book, no bank-side suite — the Swiss position is real, not marketing.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405993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51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engine = policy alignment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44398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Partner-specific credit policies, deviations and approvals are exactly what the BRE was built for; policy alignment is CRISIL's named gating factor.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EDF5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2669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base to seed the network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555955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NBFC/fintech clients (Indifi, Tyger, Blacksoil…) are natural originator-side nodes; each brings its bank partners.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1828800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9202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relationships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221284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needs banks to adopt adapters; Crego sells to NBFCs. Knight got in via treasury products; Crego has no bank-side wedge yet.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55080" y="2944368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03580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cold start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3328416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needs both sides live; first deals must be sold pair-by-pair (originator drags its bank partner in).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4059936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1513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back-loaded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0" y="444398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bps-on-AUM ramps slowly; implementation fees carry the early years — demands patient capital or services tolerance.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5080" y="5175504"/>
            <a:ext cx="5257800" cy="1005840"/>
          </a:xfrm>
          <a:prstGeom prst="roundRect">
            <a:avLst>
              <a:gd name="adj" fmla="val 6364"/>
            </a:avLst>
          </a:prstGeom>
          <a:solidFill>
            <a:srgbClr val="FDF1E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2669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capital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555955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($30M+), Yubi, M2P can bundle co-lending free into larger deals to defend turf.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Co-lending OS: durable moat, slower burn, regulation-backed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270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3557016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867912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4178808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67335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527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rules force re-platforming 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402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57016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Shape 14"/>
          <p:cNvSpPr/>
          <p:nvPr/>
        </p:nvSpPr>
        <p:spPr>
          <a:xfrm>
            <a:off x="3867912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4178808" y="238658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4489704" y="2386584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2402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Neutral-OS seat empty; leaders are conflicted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907792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95351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Crego right-to-win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46120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3557016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Shape 22"/>
          <p:cNvSpPr/>
          <p:nvPr/>
        </p:nvSpPr>
        <p:spPr>
          <a:xfrm>
            <a:off x="3867912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178808" y="3099816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9704" y="3099816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9535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live in-product; neutrality credible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621024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66674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durability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Shape 29"/>
          <p:cNvSpPr/>
          <p:nvPr/>
        </p:nvSpPr>
        <p:spPr>
          <a:xfrm>
            <a:off x="3557016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3867912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3" name="Shape 31"/>
          <p:cNvSpPr/>
          <p:nvPr/>
        </p:nvSpPr>
        <p:spPr>
          <a:xfrm>
            <a:off x="4178808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9704" y="3813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6667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Multi-party integrations = highest switching cost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4334256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3799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near-term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46120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Shape 37"/>
          <p:cNvSpPr/>
          <p:nvPr/>
        </p:nvSpPr>
        <p:spPr>
          <a:xfrm>
            <a:off x="3557016" y="4526280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0" name="Shape 38"/>
          <p:cNvSpPr/>
          <p:nvPr/>
        </p:nvSpPr>
        <p:spPr>
          <a:xfrm>
            <a:off x="3867912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1" name="Shape 39"/>
          <p:cNvSpPr/>
          <p:nvPr/>
        </p:nvSpPr>
        <p:spPr>
          <a:xfrm>
            <a:off x="4178808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2" name="Shape 40"/>
          <p:cNvSpPr/>
          <p:nvPr/>
        </p:nvSpPr>
        <p:spPr>
          <a:xfrm>
            <a:off x="4489704" y="4526280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43799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Two-sided cold start; bps ramps with AUM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047488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0932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/ risk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46120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3557016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3867912" y="523951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Shape 47"/>
          <p:cNvSpPr/>
          <p:nvPr/>
        </p:nvSpPr>
        <p:spPr>
          <a:xfrm>
            <a:off x="4178808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0" name="Shape 48"/>
          <p:cNvSpPr/>
          <p:nvPr/>
        </p:nvSpPr>
        <p:spPr>
          <a:xfrm>
            <a:off x="4489704" y="5239512"/>
            <a:ext cx="219456" cy="219456"/>
          </a:xfrm>
          <a:prstGeom prst="ellipse">
            <a:avLst/>
          </a:prstGeom>
          <a:solidFill>
            <a:srgbClr val="1E5B5C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509320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+ escrow rails are grind, not research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48640" y="5760720"/>
            <a:ext cx="7315200" cy="603504"/>
          </a:xfrm>
          <a:prstGeom prst="roundRect">
            <a:avLst>
              <a:gd name="adj" fmla="val 10606"/>
            </a:avLst>
          </a:prstGeom>
          <a:solidFill>
            <a:srgbClr val="11494A"/>
          </a:solidFill>
          <a:ln/>
        </p:spPr>
      </p:sp>
      <p:sp>
        <p:nvSpPr>
          <p:cNvPr id="53" name="Text 51"/>
          <p:cNvSpPr/>
          <p:nvPr/>
        </p:nvSpPr>
        <p:spPr>
          <a:xfrm>
            <a:off x="777240" y="58064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fit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246120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3557016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3867912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4178808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4489704" y="59527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9" name="Text 57"/>
          <p:cNvSpPr/>
          <p:nvPr/>
        </p:nvSpPr>
        <p:spPr>
          <a:xfrm>
            <a:off x="4983480" y="58064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the compliance layer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92440" y="1481328"/>
            <a:ext cx="3520440" cy="4892040"/>
          </a:xfrm>
          <a:prstGeom prst="roundRect">
            <a:avLst>
              <a:gd name="adj" fmla="val 2338"/>
            </a:avLst>
          </a:prstGeom>
          <a:solidFill>
            <a:srgbClr val="11494A"/>
          </a:solidFill>
          <a:ln/>
        </p:spPr>
      </p:sp>
      <p:sp>
        <p:nvSpPr>
          <p:cNvPr id="61" name="Text 59"/>
          <p:cNvSpPr/>
          <p:nvPr/>
        </p:nvSpPr>
        <p:spPr>
          <a:xfrm>
            <a:off x="8321040" y="1691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 before committing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321040" y="2331720"/>
            <a:ext cx="3108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one existing client pull its bank partner into a paid pilot pair?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Post-Jan-2026 volume data: did co-lending dip or grow in Q1 FY27?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banks actually pay Knight? (primary diligence, not public)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partner strategy: build vs Castler-style integration?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DF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neutrality sell, or do buyers prefer bundled suites?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caveats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regulation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CLA Directions 2025 (rbidocs PDF); Cyril Amarchand analysis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co-lending PRs (Apr 2024, Aug 2025); ICRA/CRISIL securitisation FY25-26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Standard: co-lending tech issues (Jun 2024), norms impact (Sep 2025)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Bank co-lending policy (maker-checker); Finezza/M2P 2026 operational posts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4340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EDF5F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Knight: SiliconANGLE/Inc42 funding, indiatechdesk revenue analysis, YourStory scale claims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Yubi: Entrackr/Inc42 FY25 financials; go-yubi.com product claims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M2P orchestration blog (Mar 2026); OneFin action plan; Corestrat/Craft Silicon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Castler escrow APIs; Catalyst/Axis Trustee services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38160" y="1481328"/>
            <a:ext cx="3566160" cy="4754880"/>
          </a:xfrm>
          <a:prstGeom prst="roundRect">
            <a:avLst>
              <a:gd name="adj" fmla="val 2308"/>
            </a:avLst>
          </a:prstGeom>
          <a:solidFill>
            <a:srgbClr val="FDF1EC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66760" y="210312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Knight's 70% share, ₹20,000 Cr AUM and our ~15 bps derivation are unverified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co-lending partnership failure is public — pain pattern rests on vendor blogs + anonymous quotes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post-Jan-2026 volume prints yet from CRISIL/ICRA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Bank-side tech deal sizes are not public — pricing needs primary research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· Crego product strategy · Internal use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Opportunity: Co-lending OS</dc:title>
  <dc:subject>PptxGenJS Presentation</dc:subject>
  <dc:creator>Crego</dc:creator>
  <cp:lastModifiedBy>Crego</cp:lastModifiedBy>
  <cp:revision>1</cp:revision>
  <dcterms:created xsi:type="dcterms:W3CDTF">2026-07-05T19:19:12Z</dcterms:created>
  <dcterms:modified xsi:type="dcterms:W3CDTF">2026-07-05T19:19:12Z</dcterms:modified>
</cp:coreProperties>
</file>