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7393A"/>
                </a:solidFill>
                <a:latin typeface="Arial"/>
              </a:rPr>
              <a:t>India collections software, US$M (IMARC, 10.35% CAGR; interpolated)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debt collection software market (US$M)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2025</c:v>
                  </c:pt>
                  <c:pt idx="1">
                    <c:v>2028</c:v>
                  </c:pt>
                  <c:pt idx="2">
                    <c:v>2031</c:v>
                  </c:pt>
                  <c:pt idx="3">
                    <c:v>2034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</c:v>
                </c:pt>
                <c:pt idx="1">
                  <c:v>257</c:v>
                </c:pt>
                <c:pt idx="2">
                  <c:v>346</c:v>
                </c:pt>
                <c:pt idx="3">
                  <c:v>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73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943600" cy="594360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· PRODUCT OPPORTUNITY 3 OF 3 ·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789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Collection Agent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system that runs collections end to end — reminders, escalating messages, WhatsApp, AI voice calls, legal notices and settlement — with humans only where they add value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$7B/yr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by Indian FIs on debt recovery (Perfios-cited)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retail NPAs in H1 FY25 came from unsecured loans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₹14–18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per contact, vs ₹55–70 for a human agent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is up, costs are up, and regulators killed the old playbook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cycle is live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0195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Unsecured drove 51.9% of new retail NPAs (H1 FY25); PL originations fell 2.9% in FY25 on rising delinquencies; MFI PAR 31–180 tripled to ~6.2% and MFI NPAs hit ~₹55,000 Cr. Collections demand is counter-cyclical to credit growth.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870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7977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is a $7B cost center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3108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collections-tech (Credgenics ₹226 Cr + Yubi collections ₹181 Cr + Rezo ₹43 Cr FY25) is still a sliver of total recovery spend — massive substitution headroom for software + AI agents.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9402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8678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 is no longer an option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3159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fined HDFC Bank ₹1 Cr over recovery agents; FY25 penalties ₹54.8 Cr across 353 entities (+30%). Karnataka/TN ordinances curbed MFI field practices. DLD 2025 makes the lender fully liable for LSP and AI conduct. Compliant-by-design outreach is now the only scalable kind.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102352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D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010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1937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just proved the model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5522976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DPDzero: ₹2,000 Cr/month portfolio, 22 lakh borrowers, $7M Series A (Aug 2025) on exactly this thesis. Skit.ai resolved $1B+ in the US. Voice bots hit 65–80% containment at ~₹7/min.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escalation ladder run by one agent,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18339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Nudge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Pre-due and early-DPD reminders across SMS/WhatsApp/email, sequenced by borrower behavior and channel response — DLT-registered, 8am–7pm windows enforced in code.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2249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3417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53" y="183392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0929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Converse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3417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AI voice calls that verify identity, listen, negotiate dates and capture promises-to-pay; disclosure-first ('this is an automated call'); human handoff on distress or dispute.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5858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7026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62" y="183392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4538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Resolve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77026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offers computed from BRE-driven policy (bucket, score, history); payment links in-channel; PTP tracking with automatic follow-up.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89466" y="1481328"/>
            <a:ext cx="2651760" cy="3383280"/>
          </a:xfrm>
          <a:prstGeom prst="roundRect">
            <a:avLst>
              <a:gd name="adj" fmla="val 3103"/>
            </a:avLst>
          </a:prstGeom>
          <a:solidFill>
            <a:srgbClr val="EDF5F4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90634" y="170078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771" y="18339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58146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Escalate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90634" y="2331720"/>
            <a:ext cx="2286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legal notices (email/WhatsApp service is court-recognized), ODR routing (Sama/Presolv360-style), field-agent handoff with full context — every step logged for audit.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DF1EC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23036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Crego's angle: </a:t>
            </a:r>
            <a:pPr indent="0" marL="0">
              <a:buNone/>
            </a:pPr>
            <a:r>
              <a:rPr lang="en-US" sz="11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is a policy problem wearing a telephony costume. Who to contact, when, on which channel, with what offer, and when to escalate — that's a rules-engine + loan-state problem, and Crego's LMS already owns the loan state (DPD, EMI, history) for ₹5,500 Cr+ of loans. Rivals bolt AI onto contact centers; Crego can bolt channels onto the system of record.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Crowded, funded, and consolidating — the hardest field of the three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44752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3840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Credgenics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+ legal workflow; ₹226 Cr rev FY25 (profitable FY24); $79M raised at $340M val; 150+ FIs incl. ICICI, IDFC First; claims 98M accounts under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leader; owns workflow + legal notices; now selling Collections-as-a-Service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Spocto X (Yubi)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$800M/month retail collections processed; PSU bank wins; claims 60% recovery boost at Central Bank of India (vendor PR)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Bank-scale digital outreach; part of loss-making Yubi (collections rev ₹181 Cr FY25)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$7M Series A (Aug 2025); ₹2,000 Cr monthly portfolio, 22L borrowers; RBL, IndusInd, L&amp;T Finance, Tata Capital; pay-for-performance: 3–5% early bucket, 15–20% write-offs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AI-native analogue — proves the thesis AND takes the best logos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AI specialists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Skit.ai ($47.6M, pivoted to US ARM), Gnani (30M interactions/day, profitable), Rezo (₹43 Cr rev), Exotel agentic voice, Convin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the call, not the loan state or legal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Perfios acquired CreditNirvana ($9B portfolio, 42M accounts, 'Maestro' agentic roadmap)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giants are buying their way 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ODR / legal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(35L+ cases, powers Online Lok Adalats), Presolv360 (court-empanelled, &lt;30-day resolution)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 for the escalation rung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effectiveness number in this market (60% recovery boost, 92% resolution lift, 40% cost cuts) is vendor-reported; no independent India audit exists.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and the minefield are the same 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rules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only 08:00–19:00 (applies to automated outreach — a 10pm SMS is a violation); no coercion; agent must identify the RE and disclose grievance channel; call recordings retained; borrower notified of assigned agent before contact; DRA certification for humans.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688336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614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sits with the lender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5409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 2025: REs are fully liable for LSP — and LSP-deployed AI — conduct. Every AI utterance is the lender's regulatory exposure. FACE issued debt-recovery guidelines (Aug 2025).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6849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rules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261104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TRAI/TCCCPR: DLT registration, PE-TM binding, 160-series for transactional calls; AI callers must disclose they're automated; robocall use pre-notified. WhatsApp's Business Policy prohibits debt collection use — the whole industry works around this (material channel risk).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5102352"/>
            <a:ext cx="6949440" cy="1078992"/>
          </a:xfrm>
          <a:prstGeom prst="roundRect">
            <a:avLst>
              <a:gd name="adj" fmla="val 5932"/>
            </a:avLst>
          </a:prstGeom>
          <a:solidFill>
            <a:srgbClr val="ED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755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settlement rails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46811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recognize demand notices via email/WhatsApp (Allahabad HC 2023; SC permits service via WhatsApp). ODR settlements enforceable under arbitration/conciliation law — automated legal escalation is legally grounded.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1481328"/>
            <a:ext cx="3886200" cy="4709160"/>
          </a:xfrm>
          <a:prstGeom prst="roundRect">
            <a:avLst>
              <a:gd name="adj" fmla="val 2118"/>
            </a:avLst>
          </a:prstGeom>
          <a:solidFill>
            <a:srgbClr val="0C353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6916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2103120"/>
            <a:ext cx="3429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Compliance-by-design is the product.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provably never calls after 7pm, never threatens, always discloses, logs everything, and escalates lawfully converts the RBI's enforcement wave from a threat into the sales pitch. But one viral bad AI call could set the category back years — behavioral guardrails are existential, not optional.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that pays for outcomes, not seats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45920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lenders pay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80760" y="20299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Agencies: ~7.5–30% of collected amount by bucket (30–50% for write-offs). DPDzero prices at 3–5% early / 15–20% NPA — undercutting agencies with AI.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816352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pricing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80760" y="32004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per-account (Credgenics-style) + legal-notice fees; voice AI infra at ~₹7/min. AI platform for a 50K-account book: ₹6–9 L/month vs ₹18–25 L in-house (vendor claim).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986784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4078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80760" y="4370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contact ₹14–18 vs ₹55–70 human; one AI instance replaces 5–8 telecallers churning at 80–120%/yr.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5157216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FDF1EC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5248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wedge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80760" y="554126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Crego LMS client has a collections problem TODAY — pre-due through early buckets can ship as an LMS-native module, with %-of-recovery pricing on later buckets.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bureau delinquency reporting (mandatory from July 2026) freshens targeting data for everyone — a small structural tailwind for data-driven collectors.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kill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 competition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Credgenics (₹226 Cr rev), Spocto (PSU banks), DPDzero (AI-native, funded, best logos), Perfios buying in. Crego enters 5+ years late. Mitigation: sell only into own LMS base first; don't fight for standalone deals.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2374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call = category damage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523744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that mis-handles a distressed borrower creates RBI exposure for the client and reputational harm for Crego. Mitigation: hard-coded guardrails, distress detection → human, conservative escalation.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9300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policy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3493008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policy prohibits debt-collection messaging; enforcement could remove the highest-engagement channel (60%+ engagement, ~2x SMS) overnight. Mitigation: channel-agnostic sequencing; RCS/voice/SMS fallbacks.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62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Vendor-claim market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462272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effectiveness numbers are self-reported; buyers are skeptical and demand paid pilots with holdout groups — long sales cycles. Mitigation: instrumented A/B pilots on own clients' books.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D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3153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shocks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5431536"/>
            <a:ext cx="7818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Karnataka/TN-style ordinances can suppress collections activity regionally with no notice. Mitigation: geo-aware policy engine; diversified client mix.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collections: real demand, crowded field, LMS-native wedge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3557016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867912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4178808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67335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27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Delinquency cycle + enforcement wave = demand 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402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57016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3867912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4178808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9704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2402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contested of the three; DPDzero is the thesis, funded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95351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right-to-win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3557016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67912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178808" y="3099816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9704" y="3099816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535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loan state for own clients; nothing beyond them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21024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667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durability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57016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3867912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4178808" y="3813048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9704" y="3813048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6667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Loan-state integration helps; channels commoditize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334256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799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near-term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3557016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3867912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4178808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9704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43799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upsell; recovery-share fees monetize fast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04748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93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/ risk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46120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3557016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3867912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Shape 47"/>
          <p:cNvSpPr/>
          <p:nvPr/>
        </p:nvSpPr>
        <p:spPr>
          <a:xfrm>
            <a:off x="4178808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0" name="Shape 48"/>
          <p:cNvSpPr/>
          <p:nvPr/>
        </p:nvSpPr>
        <p:spPr>
          <a:xfrm>
            <a:off x="4489704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5093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+ guardrails; voice can be partnered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76072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806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246120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3557016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3867912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4178808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4489704" y="595274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9" name="Text 57"/>
          <p:cNvSpPr/>
          <p:nvPr/>
        </p:nvSpPr>
        <p:spPr>
          <a:xfrm>
            <a:off x="4983480" y="58064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Compliance-by-design sells; conduct risk is real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92440" y="1481328"/>
            <a:ext cx="3520440" cy="4892040"/>
          </a:xfrm>
          <a:prstGeom prst="roundRect">
            <a:avLst>
              <a:gd name="adj" fmla="val 2338"/>
            </a:avLst>
          </a:prstGeom>
          <a:solidFill>
            <a:srgbClr val="1149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 before committing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321040" y="23317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our clients' books are 1–90 DPD, and who handles them today?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two clients run a holdout-group pilot (AI vs incumbent agency)?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 build voice? (Gnani/Exotel white-label vs own stack)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get comfort on WhatsApp policy exposure from Meta BSPs?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caveats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regulation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IMARC India debt-collection software market; Perfios PR ($7B recovery spend — vendor-cited)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TransUnion CIBIL delinquency data; MFIN/CareEdge/CRIF microfinance stress FY25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DLD 2025; FREE-AI report; RBI penalty compilations (FACE)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TCCCPR 2025 amendments; WhatsApp Business Policy; Allahabad HC / SC on e-notices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340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Credgenics: Tracxn FY25 revenue, Inc42 Series B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DPDzero: Inc42 deep-dive (scale, pricing), YourStory Series A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Spocto X: Business Standard PR (vendor claims flagged)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Skit.ai, Gnani, Rezo: Tracxn + Business Today; Perfios-CreditNirvana PR; Sama/Presolv360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$7B recovery-spend figure traces to a Perfios press release — no independent source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recovery-uplift metrics are vendor-reported; no audited India study exists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cost as % of AUM: no authoritative benchmark found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enforcement practice in India is undocumented — risk sizing is judgment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· Crego product strategy · Internal use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Opportunity: AI-Native Collection Agent</dc:title>
  <dc:subject>PptxGenJS Presentation</dc:subject>
  <dc:creator>Crego</dc:creator>
  <cp:lastModifiedBy>Crego</cp:lastModifiedBy>
  <cp:revision>1</cp:revision>
  <dcterms:created xsi:type="dcterms:W3CDTF">2026-07-05T19:23:10Z</dcterms:created>
  <dcterms:modified xsi:type="dcterms:W3CDTF">2026-07-05T19:23:10Z</dcterms:modified>
</cp:coreProperties>
</file>